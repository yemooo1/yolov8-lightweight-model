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74519"/>
            <a:ext cx="12191695" cy="3810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333333"/>
                </a:solidFill>
                <a:latin typeface="微软雅黑"/>
                <a:ea typeface="微软雅黑"/>
              </a:rPr>
              <a:t>面向边缘部署的轻量化目标检测算法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777777"/>
                </a:solidFill>
                <a:latin typeface="微软雅黑"/>
                <a:ea typeface="微软雅黑"/>
              </a:rPr>
              <a:t>—— 基于知识蒸馏与结构重参数化的 YOLOv8 高效推理方案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E6FB7"/>
                </a:solidFill>
                <a:latin typeface="微软雅黑"/>
                <a:ea typeface="微软雅黑"/>
              </a:rPr>
              <a:t>边缘 AI 模型轻量化 · 参赛方案汇报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队　　名：________________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队　　长：________________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队　　员：________________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指导老师：________________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E6FB7"/>
                </a:solidFill>
                <a:latin typeface="微软雅黑"/>
                <a:ea typeface="微软雅黑"/>
              </a:rPr>
              <a:t>一、赛题解读与量化目标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881360" cy="2540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核心矛盾：大模型精度高但边缘端跑不动；直接训练的小模型体积达标、但精度与召回明显不足。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方案目标：在不增加任何部署期推理开销的前提下，让 3M 量级学生逼近甚至超过 11M 量级教师。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651760"/>
          <a:ext cx="10515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181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约束项</a:t>
                      </a:r>
                    </a:p>
                  </a:txBody>
                  <a:tcPr>
                    <a:solidFill>
                      <a:srgbClr val="2E6F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要求</a:t>
                      </a:r>
                    </a:p>
                  </a:txBody>
                  <a:tcPr>
                    <a:solidFill>
                      <a:srgbClr val="2E6F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本方案达成</a:t>
                      </a:r>
                    </a:p>
                  </a:txBody>
                  <a:tcPr>
                    <a:solidFill>
                      <a:srgbClr val="2E6FB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学生参数量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&lt; 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3.006M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部署图计算量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不高于同规模普通学生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8.1 GFLOPs @640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部署期额外开销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零（重参数化必须可等价融合）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融合前后逐元素误差 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检测精度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逼近 / 超过教师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test mAP@0.5 0.665 &gt; 教师 0.639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部署格式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ONNX / TensorRT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均已实测通过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E6FB7"/>
                </a:solidFill>
                <a:latin typeface="微软雅黑"/>
                <a:ea typeface="微软雅黑"/>
              </a:rPr>
              <a:t>二、总体技术路线（四阶段闭环）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881360" cy="2540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① 基线训练：西瓜成熟度数据集（2 类）上训练 YOLOv8n / s 基线，建立精度参照。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② 知识蒸馏：YOLOv8s（教师）→ YOLOv8n（学生），三损失联合监督 + 自适应权重。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③ 结构重参数化：训练态多分支、部署态单路融合（RepC2f），零精度损失。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④ 部署实测：ONNX → TensorRT FP16，精度对齐与延迟实测。</a:t>
            </a:r>
          </a:p>
          <a:p>
            <a:pPr>
              <a:spcBef>
                <a:spcPts val="2200"/>
              </a:spcBef>
            </a:pPr>
            <a:r>
              <a:rPr sz="1600" b="0">
                <a:solidFill>
                  <a:srgbClr val="777777"/>
                </a:solidFill>
                <a:latin typeface="微软雅黑"/>
                <a:ea typeface="微软雅黑"/>
              </a:rPr>
              <a:t>设计要点：三阶段相互解耦——学生 best.pt 是纯 DetectionModel，可直接被官方 val / export 工具链消费。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E6FB7"/>
                </a:solidFill>
                <a:latin typeface="微软雅黑"/>
                <a:ea typeface="微软雅黑"/>
              </a:rPr>
              <a:t>三、实验结果（独立 test 集 1041 张，训练全程未见）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881360" cy="2540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463040"/>
          <a:ext cx="10515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模型</a:t>
                      </a:r>
                    </a:p>
                  </a:txBody>
                  <a:tcPr>
                    <a:solidFill>
                      <a:srgbClr val="2E6F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参数量</a:t>
                      </a:r>
                    </a:p>
                  </a:txBody>
                  <a:tcPr>
                    <a:solidFill>
                      <a:srgbClr val="2E6F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mAP@0.5</a:t>
                      </a:r>
                    </a:p>
                  </a:txBody>
                  <a:tcPr>
                    <a:solidFill>
                      <a:srgbClr val="2E6F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mAP@0.5:0.95</a:t>
                      </a:r>
                    </a:p>
                  </a:txBody>
                  <a:tcPr>
                    <a:solidFill>
                      <a:srgbClr val="2E6F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教师 YOLOv8s（冻结）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11.14M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0.639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0.423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基线 YOLOv8n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3.01M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0.638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0.430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蒸馏学生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3.01M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0.665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RepC2f 部署权重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3.006M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0.633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0.430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20624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3.01M 蒸馏学生在 mAP@0.5 上达 0.665，超 11.14M 教师 +2.6 点、超同规模基线 +2.7 点，参数量仅为教师的 27%。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召回 0.664 显著领先；unripe 少数类 mAP@0.5 = 0.352 为全场最高。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777777"/>
                </a:solidFill>
                <a:latin typeface="微软雅黑"/>
                <a:ea typeface="微软雅黑"/>
              </a:rPr>
              <a:t>mAP@0.5:0.95 上蒸馏未超基线（0.401 vs 0.430）——增益集中在分类与召回，后续提高框分布蒸馏权重。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E6FB7"/>
                </a:solidFill>
                <a:latin typeface="微软雅黑"/>
                <a:ea typeface="微软雅黑"/>
              </a:rPr>
              <a:t>四、结构重参数化（阶段③）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881360" cy="2540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训练态：RepBottleneck 的 3×3 主卷积旁挂 1×1 卷积分支与 BN 恒等分支，增强梯度流与可学习容量。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部署态：三分支数学等价融合为单个 3×3 卷积，由 ultralytics 官方 RepConv.fuse_convs 完成。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零初始化暖启：主分支继承基线权重、新增分支 BN γ 置零，转换瞬间输出与原网络逐元素相等（max err = 0.0）。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免侵入实现：不改 ultralytics 源码，通过模块原地替换 + 官方 fuse 完成，保持与官方工具链兼容。</a:t>
            </a:r>
          </a:p>
          <a:p>
            <a:pPr>
              <a:spcBef>
                <a:spcPts val="1800"/>
              </a:spcBef>
            </a:pPr>
            <a:r>
              <a:rPr sz="1700" b="1">
                <a:solidFill>
                  <a:srgbClr val="2E6FB7"/>
                </a:solidFill>
                <a:latin typeface="微软雅黑"/>
                <a:ea typeface="微软雅黑"/>
              </a:rPr>
              <a:t>关键数字：训练态 3.066M → 部署态 3.006M；部署图 8.1 GFLOPs，与普通学生完全一致。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E6FB7"/>
                </a:solidFill>
                <a:latin typeface="微软雅黑"/>
                <a:ea typeface="微软雅黑"/>
              </a:rPr>
              <a:t>五、精度对比与部署前后延迟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881360" cy="2540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ploy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881360" cy="44622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263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777777"/>
                </a:solidFill>
                <a:latin typeface="微软雅黑"/>
                <a:ea typeface="微软雅黑"/>
              </a:rPr>
              <a:t>测试条件：西瓜 test split 1041 张，imgsz=640；延迟为 L40S 单卡实测（不含前后处理）。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E6FB7"/>
                </a:solidFill>
                <a:latin typeface="微软雅黑"/>
                <a:ea typeface="微软雅黑"/>
              </a:rPr>
              <a:t>六、同图检测效果对比（定性）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881360" cy="2540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tect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311" y="1280160"/>
            <a:ext cx="7847073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4465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777777"/>
                </a:solidFill>
                <a:latin typeface="微软雅黑"/>
                <a:ea typeface="微软雅黑"/>
              </a:rPr>
              <a:t>四组模型在同一批 test 样本上的检测结果（conf=0.25）。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E6FB7"/>
                </a:solidFill>
                <a:latin typeface="微软雅黑"/>
                <a:ea typeface="微软雅黑"/>
              </a:rPr>
              <a:t>七、部署实测（NVIDIA L40S）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881360" cy="2540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46304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9377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</a:p>
                  </a:txBody>
                  <a:tcPr>
                    <a:solidFill>
                      <a:srgbClr val="2E6F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PyTorch FP32</a:t>
                      </a:r>
                    </a:p>
                  </a:txBody>
                  <a:tcPr>
                    <a:solidFill>
                      <a:srgbClr val="2E6F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TensorRT FP16</a:t>
                      </a:r>
                    </a:p>
                  </a:txBody>
                  <a:tcPr>
                    <a:solidFill>
                      <a:srgbClr val="2E6F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变化</a:t>
                      </a:r>
                    </a:p>
                  </a:txBody>
                  <a:tcPr>
                    <a:solidFill>
                      <a:srgbClr val="2E6FB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mAP@0.5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0.6328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0.6308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−0.20 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mAP@0.5:0.95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0.4303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0.4207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−0.96 点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推理耗时（640×640）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0.69 ms/图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0.45 ms/图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1.53× 加速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部署体积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11.7 MB (.pt)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8.3 MB (.engine)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−29%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29768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导出链路：PyTorch → ONNX（opset 12）→ TensorRT FP16 引擎，全链路在集群 GPU 上跑通。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FP16 量化仅带来 0.2 点 mAP@0.5 回退，延迟降低 34%，满足边缘部署轻量化目标。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777777"/>
                </a:solidFill>
                <a:latin typeface="微软雅黑"/>
                <a:ea typeface="微软雅黑"/>
              </a:rPr>
              <a:t>说明：INT8 量化与真实边缘设备实测因时间不足未执行，本页数据为 GPU 侧推算，测试硬件如实标注。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E6FB7"/>
                </a:solidFill>
                <a:latin typeface="微软雅黑"/>
                <a:ea typeface="微软雅黑"/>
              </a:rPr>
              <a:t>八、创新点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881360" cy="2540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1. 自适应蒸馏权重：w = mean(1 − conf_student)^γ，监督强度随学生不确定性自适应。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2. 三损失联合蒸馏：分类 logit KL + DFL 框分布 KL + CWD 特征蒸馏，覆盖三个层面。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3. 教师输出离线缓存：弱卡可完全不加载教师模型完成蒸馏，扩展方法可运行的硬件范围。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4. 零初始化暖启的重参数化融合：转换瞬间输出逐元素相等（err = 0.0），只增训练容量、不改部署行为。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5. 免侵入式实现：不改 ultralytics 源码，与官方 val / export / TensorRT 工具链完全兼容。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E6FB7"/>
                </a:solidFill>
                <a:latin typeface="微软雅黑"/>
                <a:ea typeface="微软雅黑"/>
              </a:rPr>
              <a:t>九、结论与后续计划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881360" cy="2540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2E6FB7"/>
                </a:solidFill>
                <a:latin typeface="微软雅黑"/>
                <a:ea typeface="微软雅黑"/>
              </a:rPr>
              <a:t>结论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· 蒸馏学生在 mAP@0.5 上超过教师 2.6 点，参数量仅 3.01M（教师的 27%），满足 &lt;5M 约束。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· 重参数化实现零部署开销：融合误差 0.0，部署图与普通学生完全一致。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· TensorRT FP16 实测：延迟 0.45 ms/图（1.53× 加速），精度仅回退 0.2 点。</a:t>
            </a:r>
          </a:p>
          <a:p>
            <a:pPr>
              <a:spcBef>
                <a:spcPts val="2000"/>
              </a:spcBef>
            </a:pPr>
            <a:r>
              <a:rPr sz="1900" b="1">
                <a:solidFill>
                  <a:srgbClr val="2E6FB7"/>
                </a:solidFill>
                <a:latin typeface="微软雅黑"/>
                <a:ea typeface="微软雅黑"/>
              </a:rPr>
              <a:t>后续改进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· 提高框分布蒸馏权重（kd_box_gain 1.0 → 2.0~4.0），争取 mAP@0.5:0.95 超过基线。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· 清洗 unripe 标注口径并补充少数类样本——当前最大短板，属数据问题而非模型问题。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· 在真实边缘设备上完成端到端部署实测（当前仅完成 GPU 侧验证）。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